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1194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3566160"/>
            <a:ext cx="5120640" cy="512064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9692640" y="4480560"/>
            <a:ext cx="3291840" cy="329184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822960" y="685800"/>
            <a:ext cx="777240" cy="7772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Image 0" descr="icon_pill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29" y="779069"/>
            <a:ext cx="590702" cy="5907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3317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GenMed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461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Pharmacy Invoice Auditing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4160520"/>
            <a:ext cx="2926080" cy="0"/>
          </a:xfrm>
          <a:prstGeom prst="line">
            <a:avLst/>
          </a:prstGeom>
          <a:noFill/>
          <a:ln w="31750">
            <a:solidFill>
              <a:srgbClr val="E4572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 txBox="1"/>
          <p:nvPr/>
        </p:nvSpPr>
        <p:spPr>
          <a:xfrm>
            <a:off x="822960" y="4892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Nihal Panwar,4MCA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5230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MCA Programme, CHRIST (Deemed to be University), Delhi NCR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Big Problems in Pharmacy Billing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 when you buy medicine today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42062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127000" dist="38100" dir="5400000" algn="bl" rotWithShape="0">
              <a:srgbClr val="8896B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868680" y="2057400"/>
            <a:ext cx="731520" cy="73152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6" name="Image 0" descr="icon_triad_pric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462" y="2145182"/>
            <a:ext cx="555955" cy="55595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0175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22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Overcharging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pharmacies charge more than the government's price limit (NPPA/DPCO).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89120" y="1691640"/>
            <a:ext cx="3520440" cy="42062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127000" dist="38100" dir="5400000" algn="bl" rotWithShape="0">
              <a:srgbClr val="8896B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7"/>
          <p:cNvSpPr/>
          <p:nvPr/>
        </p:nvSpPr>
        <p:spPr>
          <a:xfrm>
            <a:off x="4709160" y="205740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1" name="Image 1" descr="icon_triad_transparency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6942" y="2145182"/>
            <a:ext cx="555955" cy="55595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30175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22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 Patient Cost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384048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aren't shown cheaper generic options (like Jan Aushadhi) for the same medicine.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0" y="1691640"/>
            <a:ext cx="3520440" cy="42062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127000" dist="38100" dir="5400000" algn="bl" rotWithShape="0">
              <a:srgbClr val="8896B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1"/>
          <p:cNvSpPr/>
          <p:nvPr/>
        </p:nvSpPr>
        <p:spPr>
          <a:xfrm>
            <a:off x="8549640" y="205740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6" name="Image 2" descr="icon_triad_hazard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7422" y="2145182"/>
            <a:ext cx="555955" cy="55595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503920" y="30175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22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Hidden Health Risks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503920" y="384048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bills hide dangerous drug combinations and medicines that are officially banned.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GenMed — AI-Powered Pharmacy Invoice Auditing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Run Fully Offline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internet needed — everything runs on the local machine, instantly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57800" cy="1965960"/>
          </a:xfrm>
          <a:prstGeom prst="roundRect">
            <a:avLst>
              <a:gd name="adj" fmla="val 4186"/>
            </a:avLst>
          </a:prstGeom>
          <a:solidFill>
            <a:srgbClr val="1E2761">
              <a:alpha val="80000"/>
            </a:srgbClr>
          </a:solidFill>
          <a:ln w="12700">
            <a:solidFill>
              <a:srgbClr val="3A45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822960" y="1984248"/>
            <a:ext cx="621792" cy="62179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6" name="Image 0" descr="icon_db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575" y="2058863"/>
            <a:ext cx="472562" cy="47256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9110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Database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40487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Switched to a local MongoDB database after campus Wi-Fi blocked the cloud version.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257800" cy="1965960"/>
          </a:xfrm>
          <a:prstGeom prst="roundRect">
            <a:avLst>
              <a:gd name="adj" fmla="val 4186"/>
            </a:avLst>
          </a:prstGeom>
          <a:solidFill>
            <a:srgbClr val="1E2761">
              <a:alpha val="80000"/>
            </a:srgbClr>
          </a:solidFill>
          <a:ln w="12700">
            <a:solidFill>
              <a:srgbClr val="3A45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7"/>
          <p:cNvSpPr/>
          <p:nvPr/>
        </p:nvSpPr>
        <p:spPr>
          <a:xfrm>
            <a:off x="6537960" y="1984248"/>
            <a:ext cx="621792" cy="62179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1" name="Image 1" descr="icon_zap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575" y="2058863"/>
            <a:ext cx="472562" cy="47256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60920" y="19110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Instant Drug Matching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7360920" y="240487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drug names on the spot, without needing the internet.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023360"/>
            <a:ext cx="5257800" cy="1965960"/>
          </a:xfrm>
          <a:prstGeom prst="roundRect">
            <a:avLst>
              <a:gd name="adj" fmla="val 4186"/>
            </a:avLst>
          </a:prstGeom>
          <a:solidFill>
            <a:srgbClr val="1E2761">
              <a:alpha val="80000"/>
            </a:srgbClr>
          </a:solidFill>
          <a:ln w="12700">
            <a:solidFill>
              <a:srgbClr val="3A45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1"/>
          <p:cNvSpPr/>
          <p:nvPr/>
        </p:nvSpPr>
        <p:spPr>
          <a:xfrm>
            <a:off x="822960" y="4315968"/>
            <a:ext cx="621792" cy="62179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6" name="Image 2" descr="icon_clo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575" y="4390583"/>
            <a:ext cx="472562" cy="47256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45920" y="42428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1-Hour Rule Cache</a:t>
            </a:r>
            <a:endParaRPr lang="en-US" sz="1550" dirty="0"/>
          </a:p>
        </p:txBody>
      </p:sp>
      <p:sp>
        <p:nvSpPr>
          <p:cNvPr id="18" name="Text 13"/>
          <p:cNvSpPr txBox="1"/>
          <p:nvPr/>
        </p:nvSpPr>
        <p:spPr>
          <a:xfrm>
            <a:off x="1645920" y="473659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government drug rules loaded in memory so it doesn't re-read them every time.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63640" y="4023360"/>
            <a:ext cx="5257800" cy="1965960"/>
          </a:xfrm>
          <a:prstGeom prst="roundRect">
            <a:avLst>
              <a:gd name="adj" fmla="val 4186"/>
            </a:avLst>
          </a:prstGeom>
          <a:solidFill>
            <a:srgbClr val="1E2761">
              <a:alpha val="80000"/>
            </a:srgbClr>
          </a:solidFill>
          <a:ln w="12700">
            <a:solidFill>
              <a:srgbClr val="3A45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6537960" y="4315968"/>
            <a:ext cx="621792" cy="62179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1" name="Image 3" descr="icon_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575" y="4390583"/>
            <a:ext cx="472562" cy="47256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360920" y="42428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Memory (LRU)</a:t>
            </a:r>
            <a:endParaRPr lang="en-US" sz="1550" dirty="0"/>
          </a:p>
        </p:txBody>
      </p:sp>
      <p:sp>
        <p:nvSpPr>
          <p:cNvPr id="23" name="Text 17"/>
          <p:cNvSpPr txBox="1"/>
          <p:nvPr/>
        </p:nvSpPr>
        <p:spPr>
          <a:xfrm>
            <a:off x="7360920" y="473659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past results, so repeated items are checked instantly.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9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GenMed — AI-Powered Pharmacy Invoice Auditing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Checking the Price is Fair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system cleans up drug names and does the math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Image 0" descr="icon_hash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55" y="1949135"/>
            <a:ext cx="472562" cy="47256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828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 Up Drug Names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225856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extra wording and sorts ingredients so the same medicine is always recognized the same way.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3474720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9" name="Image 1" descr="icon_fla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255" y="3549335"/>
            <a:ext cx="472562" cy="47256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3429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Flagging Overcharges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371600" y="385876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Raises a flag whenever the price paid is higher than the legal limit.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309360" y="1600200"/>
            <a:ext cx="5349240" cy="4343400"/>
          </a:xfrm>
          <a:prstGeom prst="roundRect">
            <a:avLst>
              <a:gd name="adj" fmla="val 2105"/>
            </a:avLst>
          </a:prstGeom>
          <a:solidFill>
            <a:srgbClr val="141A4A"/>
          </a:solidFill>
          <a:ln/>
          <a:effectLst>
            <a:outerShdw blurRad="152400" dist="50800" dir="5400000" algn="bl" rotWithShape="0">
              <a:srgbClr val="8896B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9"/>
          <p:cNvSpPr/>
          <p:nvPr/>
        </p:nvSpPr>
        <p:spPr>
          <a:xfrm>
            <a:off x="6675120" y="1965960"/>
            <a:ext cx="640080" cy="64008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4" name="Image 2" descr="icon_calculato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1930" y="2042770"/>
            <a:ext cx="486461" cy="48646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498080" y="205740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the Legal Price?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675120" y="2971800"/>
            <a:ext cx="4617720" cy="1371600"/>
          </a:xfrm>
          <a:prstGeom prst="roundRect">
            <a:avLst>
              <a:gd name="adj" fmla="val 5333"/>
            </a:avLst>
          </a:prstGeom>
          <a:solidFill>
            <a:srgbClr val="0D1230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2"/>
          <p:cNvSpPr txBox="1"/>
          <p:nvPr/>
        </p:nvSpPr>
        <p:spPr>
          <a:xfrm>
            <a:off x="6858000" y="2971800"/>
            <a:ext cx="4251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00" dirty="0">
                <a:solidFill>
                  <a:srgbClr val="6FD6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Legal Price</a:t>
            </a:r>
            <a:r>
              <a:rPr lang="en-US" sz="15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500" dirty="0">
                <a:solidFill>
                  <a:srgbClr val="FFD2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Govt. Price</a:t>
            </a:r>
            <a:r>
              <a:rPr lang="en-US" sz="15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× </a:t>
            </a:r>
            <a:r>
              <a:rPr lang="en-US" sz="1500" dirty="0">
                <a:solidFill>
                  <a:srgbClr val="FFD2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Quantity</a:t>
            </a:r>
            <a:r>
              <a:rPr lang="en-US" sz="1500" b="1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× 1.12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675120" y="44805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1.12 simply adds the standard 12% GST on top of the government price.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675120" y="5029200"/>
            <a:ext cx="4617720" cy="0"/>
          </a:xfrm>
          <a:prstGeom prst="line">
            <a:avLst/>
          </a:prstGeom>
          <a:noFill/>
          <a:ln w="12700">
            <a:solidFill>
              <a:srgbClr val="3A45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5"/>
          <p:cNvSpPr txBox="1"/>
          <p:nvPr/>
        </p:nvSpPr>
        <p:spPr>
          <a:xfrm>
            <a:off x="6675120" y="516636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invoice charges more than this amount, the system flags it right away.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GenMed — AI-Powered Pharmacy Invoice Auditing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Keeping Patients Safe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safety checks run on every prescription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101600" dist="25400" dir="5400000" algn="bl" rotWithShape="0">
              <a:srgbClr val="8896B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822960" y="2025396"/>
            <a:ext cx="658368" cy="658368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6" name="Image 0" descr="icon_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964" y="2104400"/>
            <a:ext cx="500360" cy="5003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9202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Banned Medicines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257800" y="1965960"/>
            <a:ext cx="0" cy="777240"/>
          </a:xfrm>
          <a:prstGeom prst="line">
            <a:avLst/>
          </a:prstGeom>
          <a:noFill/>
          <a:ln w="12700">
            <a:solidFill>
              <a:srgbClr val="E2E6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 txBox="1"/>
          <p:nvPr/>
        </p:nvSpPr>
        <p:spPr>
          <a:xfrm>
            <a:off x="5577840" y="19202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each drug against the official list of banned medicine combinations.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3182112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101600" dist="25400" dir="5400000" algn="bl" rotWithShape="0">
              <a:srgbClr val="8896B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8"/>
          <p:cNvSpPr/>
          <p:nvPr/>
        </p:nvSpPr>
        <p:spPr>
          <a:xfrm>
            <a:off x="822960" y="3424428"/>
            <a:ext cx="658368" cy="65836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2" name="Image 1" descr="icon_testTu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964" y="3503432"/>
            <a:ext cx="500360" cy="5003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783080" y="3319272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Antibiotic Rules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257800" y="3364992"/>
            <a:ext cx="0" cy="777240"/>
          </a:xfrm>
          <a:prstGeom prst="line">
            <a:avLst/>
          </a:prstGeom>
          <a:noFill/>
          <a:ln w="12700">
            <a:solidFill>
              <a:srgbClr val="E2E6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1"/>
          <p:cNvSpPr txBox="1"/>
          <p:nvPr/>
        </p:nvSpPr>
        <p:spPr>
          <a:xfrm>
            <a:off x="5577840" y="3319272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sure strictly-controlled antibiotics follow the required prescription rules.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48640" y="4581144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101600" dist="25400" dir="5400000" algn="bl" rotWithShape="0">
              <a:srgbClr val="8896B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3"/>
          <p:cNvSpPr/>
          <p:nvPr/>
        </p:nvSpPr>
        <p:spPr>
          <a:xfrm>
            <a:off x="822960" y="482346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8" name="Image 2" descr="icon_grid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964" y="4902464"/>
            <a:ext cx="500360" cy="5003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783080" y="471830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Risky Combinations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257800" y="4764024"/>
            <a:ext cx="0" cy="777240"/>
          </a:xfrm>
          <a:prstGeom prst="line">
            <a:avLst/>
          </a:prstGeom>
          <a:noFill/>
          <a:ln w="12700">
            <a:solidFill>
              <a:srgbClr val="E2E6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6"/>
          <p:cNvSpPr txBox="1"/>
          <p:nvPr/>
        </p:nvSpPr>
        <p:spPr>
          <a:xfrm>
            <a:off x="5577840" y="4718304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Compares every pair of medicines to catch dangerous interactions.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GenMed — AI-Powered Pharmacy Invoice Auditing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371600"/>
            <a:ext cx="4114800" cy="411480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icon_checkCirc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50" y="579730"/>
            <a:ext cx="486461" cy="48646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50% Milestone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&amp; Verified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5029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64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16916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COMPLETE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514600"/>
            <a:ext cx="3520440" cy="3383280"/>
          </a:xfrm>
          <a:prstGeom prst="roundRect">
            <a:avLst>
              <a:gd name="adj" fmla="val 2703"/>
            </a:avLst>
          </a:prstGeom>
          <a:solidFill>
            <a:srgbClr val="1E2761">
              <a:alpha val="85000"/>
            </a:srgbClr>
          </a:solidFill>
          <a:ln w="12700">
            <a:solidFill>
              <a:srgbClr val="3A45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7"/>
          <p:cNvSpPr/>
          <p:nvPr/>
        </p:nvSpPr>
        <p:spPr>
          <a:xfrm>
            <a:off x="868680" y="28346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1" name="Image 1" descr="icon_layers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490" y="2911450"/>
            <a:ext cx="486461" cy="48646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22960" y="37033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System Built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4340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bills, matches drug names, checks prices, and checks safety — all working together.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89120" y="2514600"/>
            <a:ext cx="3520440" cy="3383280"/>
          </a:xfrm>
          <a:prstGeom prst="roundRect">
            <a:avLst>
              <a:gd name="adj" fmla="val 2703"/>
            </a:avLst>
          </a:prstGeom>
          <a:solidFill>
            <a:srgbClr val="1E2761">
              <a:alpha val="85000"/>
            </a:srgbClr>
          </a:solidFill>
          <a:ln w="12700">
            <a:solidFill>
              <a:srgbClr val="3A45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1"/>
          <p:cNvSpPr/>
          <p:nvPr/>
        </p:nvSpPr>
        <p:spPr>
          <a:xfrm>
            <a:off x="4709160" y="28346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6" name="Image 2" descr="icon_checkCirc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5970" y="2911450"/>
            <a:ext cx="486461" cy="48646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663440" y="37033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 End to End</a:t>
            </a:r>
            <a:endParaRPr lang="en-US" sz="1550" dirty="0"/>
          </a:p>
        </p:txBody>
      </p:sp>
      <p:sp>
        <p:nvSpPr>
          <p:cNvPr id="18" name="Text 13"/>
          <p:cNvSpPr txBox="1"/>
          <p:nvPr/>
        </p:nvSpPr>
        <p:spPr>
          <a:xfrm>
            <a:off x="4663440" y="434340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automated test confirms the whole process works correctly.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229600" y="2514600"/>
            <a:ext cx="3520440" cy="3383280"/>
          </a:xfrm>
          <a:prstGeom prst="roundRect">
            <a:avLst>
              <a:gd name="adj" fmla="val 2703"/>
            </a:avLst>
          </a:prstGeom>
          <a:solidFill>
            <a:srgbClr val="1E2761">
              <a:alpha val="85000"/>
            </a:srgbClr>
          </a:solidFill>
          <a:ln w="12700">
            <a:solidFill>
              <a:srgbClr val="3A45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8549640" y="28346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1" name="Image 3" descr="icon_wifiOff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6450" y="2911450"/>
            <a:ext cx="486461" cy="48646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503920" y="37033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 Fully Offline</a:t>
            </a:r>
            <a:endParaRPr lang="en-US" sz="1550" dirty="0"/>
          </a:p>
        </p:txBody>
      </p:sp>
      <p:sp>
        <p:nvSpPr>
          <p:cNvPr id="23" name="Text 17"/>
          <p:cNvSpPr txBox="1"/>
          <p:nvPr/>
        </p:nvSpPr>
        <p:spPr>
          <a:xfrm>
            <a:off x="8503920" y="434340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or internet connection needed to run.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9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GenMed — AI-Powered Pharmacy Invoice Auditing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Problems I Solved Along the Way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roadblocks that changed how we built this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127000" dist="38100" dir="5400000" algn="bl" rotWithShape="0">
              <a:srgbClr val="8896B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86868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175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22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Switched to a Local Database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4048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campus network blocked our cloud database, so we moved everything to run locally instead.</a:t>
            </a:r>
            <a:endParaRPr lang="en-US" sz="1250" dirty="0"/>
          </a:p>
        </p:txBody>
      </p:sp>
      <p:pic>
        <p:nvPicPr>
          <p:cNvPr id="9" name="Image 0" descr="icon_arrowUpRigh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3703320"/>
            <a:ext cx="274320" cy="2743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89120" y="17830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127000" dist="38100" dir="5400000" algn="bl" rotWithShape="0">
              <a:srgbClr val="8896B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8"/>
          <p:cNvSpPr/>
          <p:nvPr/>
        </p:nvSpPr>
        <p:spPr>
          <a:xfrm>
            <a:off x="4709160" y="210312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 txBox="1"/>
          <p:nvPr/>
        </p:nvSpPr>
        <p:spPr>
          <a:xfrm>
            <a:off x="470916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30175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22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Our Own Matching Tool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663440" y="384048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local database couldn't search text well, so we built a faster matching tool ourselves.</a:t>
            </a:r>
            <a:endParaRPr lang="en-US" sz="1250" dirty="0"/>
          </a:p>
        </p:txBody>
      </p:sp>
      <p:pic>
        <p:nvPicPr>
          <p:cNvPr id="15" name="Image 1" descr="icon_arrowUpRigh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7848" y="3703320"/>
            <a:ext cx="274320" cy="27432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229600" y="17830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blurRad="127000" dist="38100" dir="5400000" algn="bl" rotWithShape="0">
              <a:srgbClr val="8896B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3"/>
          <p:cNvSpPr/>
          <p:nvPr/>
        </p:nvSpPr>
        <p:spPr>
          <a:xfrm>
            <a:off x="8549640" y="2103120"/>
            <a:ext cx="685800" cy="685800"/>
          </a:xfrm>
          <a:prstGeom prst="ellipse">
            <a:avLst/>
          </a:prstGeom>
          <a:solidFill>
            <a:srgbClr val="E457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4"/>
          <p:cNvSpPr txBox="1"/>
          <p:nvPr/>
        </p:nvSpPr>
        <p:spPr>
          <a:xfrm>
            <a:off x="854964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5"/>
          <p:cNvSpPr txBox="1"/>
          <p:nvPr/>
        </p:nvSpPr>
        <p:spPr>
          <a:xfrm>
            <a:off x="8503920" y="30175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22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 How Doses Are Compared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8503920" y="384048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Separated dose amounts from drug names so the safety checks compare medicines correctly.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GenMed — AI-Powered Pharmacy Invoice Auditing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Left to 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for the rest of the project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4400" y="2240280"/>
            <a:ext cx="0" cy="2834640"/>
          </a:xfrm>
          <a:prstGeom prst="line">
            <a:avLst/>
          </a:prstGeom>
          <a:noFill/>
          <a:ln w="25400">
            <a:solidFill>
              <a:srgbClr val="3A45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594360" y="1920240"/>
            <a:ext cx="640080" cy="640080"/>
          </a:xfrm>
          <a:prstGeom prst="ellipse">
            <a:avLst/>
          </a:prstGeom>
          <a:solidFill>
            <a:srgbClr val="141A4A"/>
          </a:solidFill>
          <a:ln w="317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icon_layoutDashboar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2066544"/>
            <a:ext cx="347472" cy="347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81051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Visual Dashboard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222199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website where users can see their audit results clearly.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4360" y="3337560"/>
            <a:ext cx="640080" cy="640080"/>
          </a:xfrm>
          <a:prstGeom prst="ellipse">
            <a:avLst/>
          </a:prstGeom>
          <a:solidFill>
            <a:srgbClr val="141A4A"/>
          </a:solidFill>
          <a:ln w="317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0" name="Image 1" descr="icon_receip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3483864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08760" y="322783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Bill Reading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1508760" y="363931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how the system reads faded or hard-to-read printed bills.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94360" y="4754880"/>
            <a:ext cx="640080" cy="640080"/>
          </a:xfrm>
          <a:prstGeom prst="ellipse">
            <a:avLst/>
          </a:prstGeom>
          <a:solidFill>
            <a:srgbClr val="141A4A"/>
          </a:solidFill>
          <a:ln w="317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4" name="Image 2" descr="icon_workflow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" y="4901184"/>
            <a:ext cx="347472" cy="34747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08760" y="464515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Auto-Updating Data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1508760" y="505663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refresh drug price and safety data every week.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9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GenMed — AI-Powered Pharmacy Invoice Auditing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563</Words>
  <Application>Microsoft Office PowerPoint</Application>
  <PresentationFormat>Widescreen</PresentationFormat>
  <Paragraphs>91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Kaizo</cp:lastModifiedBy>
  <cp:revision>2</cp:revision>
  <dcterms:created xsi:type="dcterms:W3CDTF">2026-08-30T13:34:25Z</dcterms:created>
  <dcterms:modified xsi:type="dcterms:W3CDTF">2026-08-30T13:39:55Z</dcterms:modified>
</cp:coreProperties>
</file>