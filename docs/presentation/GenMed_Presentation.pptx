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599" autoAdjust="0"/>
  </p:normalViewPr>
  <p:slideViewPr>
    <p:cSldViewPr snapToGrid="0" snapToObjects="1">
      <p:cViewPr varScale="1">
        <p:scale>
          <a:sx n="54" d="100"/>
          <a:sy n="54" d="100"/>
        </p:scale>
        <p:origin x="13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A259E3-8A77-48D4-86C5-3C61FB332C8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6EAAAC-A248-42EC-A0BB-AB93D37C0AAF}">
      <dgm:prSet/>
      <dgm:spPr/>
      <dgm:t>
        <a:bodyPr/>
        <a:lstStyle/>
        <a:p>
          <a:r>
            <a:rPr lang="en-US" b="1"/>
            <a:t>Deterministic Equivalency Mapping:</a:t>
          </a:r>
          <a:r>
            <a:rPr lang="en-US"/>
            <a:t> Extracts chemical salts via NER and queries the generic database for a guaranteed therapeutic match.</a:t>
          </a:r>
        </a:p>
      </dgm:t>
    </dgm:pt>
    <dgm:pt modelId="{DC791E1D-C325-474A-9470-26FD973DAED1}" type="parTrans" cxnId="{F55E68EC-ECEA-40F5-93F6-868C037EEF22}">
      <dgm:prSet/>
      <dgm:spPr/>
      <dgm:t>
        <a:bodyPr/>
        <a:lstStyle/>
        <a:p>
          <a:endParaRPr lang="en-US"/>
        </a:p>
      </dgm:t>
    </dgm:pt>
    <dgm:pt modelId="{47A398E7-5229-455F-A92A-251DC978EC67}" type="sibTrans" cxnId="{F55E68EC-ECEA-40F5-93F6-868C037EEF22}">
      <dgm:prSet/>
      <dgm:spPr/>
      <dgm:t>
        <a:bodyPr/>
        <a:lstStyle/>
        <a:p>
          <a:endParaRPr lang="en-US"/>
        </a:p>
      </dgm:t>
    </dgm:pt>
    <dgm:pt modelId="{48EFFD5F-66B7-4C74-AE7C-5D69C600BDB2}">
      <dgm:prSet/>
      <dgm:spPr/>
      <dgm:t>
        <a:bodyPr/>
        <a:lstStyle/>
        <a:p>
          <a:r>
            <a:rPr lang="en-US" b="1"/>
            <a:t>Dynamic Savings Calculator:</a:t>
          </a:r>
          <a:r>
            <a:rPr lang="en-US"/>
            <a:t> Computes and displays financial savings per unit/strip dynamically.</a:t>
          </a:r>
        </a:p>
      </dgm:t>
    </dgm:pt>
    <dgm:pt modelId="{726F74E3-D8EF-4899-B15E-4CA88A726635}" type="parTrans" cxnId="{AED396D4-3568-4A0A-A549-27BA8621B212}">
      <dgm:prSet/>
      <dgm:spPr/>
      <dgm:t>
        <a:bodyPr/>
        <a:lstStyle/>
        <a:p>
          <a:endParaRPr lang="en-US"/>
        </a:p>
      </dgm:t>
    </dgm:pt>
    <dgm:pt modelId="{480654B1-4BB2-4155-9037-BCF2A476AFF8}" type="sibTrans" cxnId="{AED396D4-3568-4A0A-A549-27BA8621B212}">
      <dgm:prSet/>
      <dgm:spPr/>
      <dgm:t>
        <a:bodyPr/>
        <a:lstStyle/>
        <a:p>
          <a:endParaRPr lang="en-US"/>
        </a:p>
      </dgm:t>
    </dgm:pt>
    <dgm:pt modelId="{5A103B1C-D3A8-40CD-B5B3-85682C3E5D18}">
      <dgm:prSet/>
      <dgm:spPr/>
      <dgm:t>
        <a:bodyPr/>
        <a:lstStyle/>
        <a:p>
          <a:r>
            <a:rPr lang="en-US" b="1"/>
            <a:t>"Equivalency Trust" Display:</a:t>
          </a:r>
          <a:r>
            <a:rPr lang="en-US"/>
            <a:t> Renders a split-screen view mapping the side effect profiles of both the branded and generic drugs to visually prove therapeutic equivalency.</a:t>
          </a:r>
        </a:p>
      </dgm:t>
    </dgm:pt>
    <dgm:pt modelId="{3BD94B42-73D0-41F5-A5F6-F45F335BC057}" type="parTrans" cxnId="{81D0C3A0-BEBF-40B1-9C1E-834D161AD141}">
      <dgm:prSet/>
      <dgm:spPr/>
      <dgm:t>
        <a:bodyPr/>
        <a:lstStyle/>
        <a:p>
          <a:endParaRPr lang="en-US"/>
        </a:p>
      </dgm:t>
    </dgm:pt>
    <dgm:pt modelId="{25DB8389-E72A-447F-BC7D-888E489C970D}" type="sibTrans" cxnId="{81D0C3A0-BEBF-40B1-9C1E-834D161AD141}">
      <dgm:prSet/>
      <dgm:spPr/>
      <dgm:t>
        <a:bodyPr/>
        <a:lstStyle/>
        <a:p>
          <a:endParaRPr lang="en-US"/>
        </a:p>
      </dgm:t>
    </dgm:pt>
    <dgm:pt modelId="{0D29C4DD-F700-4748-ACC1-7C06BCB61B71}">
      <dgm:prSet/>
      <dgm:spPr/>
      <dgm:t>
        <a:bodyPr/>
        <a:lstStyle/>
        <a:p>
          <a:r>
            <a:rPr lang="en-US" b="1"/>
            <a:t>Multi-Layer Counterfeit Detection:</a:t>
          </a:r>
          <a:r>
            <a:rPr lang="en-US"/>
            <a:t> Integrates a statistical </a:t>
          </a:r>
          <a:r>
            <a:rPr lang="en-US" b="1"/>
            <a:t>Price Anomaly Heuristic</a:t>
          </a:r>
          <a:r>
            <a:rPr lang="en-US"/>
            <a:t> and an OSINT-driven </a:t>
          </a:r>
          <a:r>
            <a:rPr lang="en-US" b="1"/>
            <a:t>CDSCO Batch Blacklist Scraper</a:t>
          </a:r>
          <a:r>
            <a:rPr lang="en-US"/>
            <a:t> to identify suspicious market dumping and recalled spurious drugs.</a:t>
          </a:r>
        </a:p>
      </dgm:t>
    </dgm:pt>
    <dgm:pt modelId="{D762243F-48EF-440C-BBFF-BC0A556EBE75}" type="parTrans" cxnId="{77355A29-0EEF-4267-AB7E-CF076AD7A5AD}">
      <dgm:prSet/>
      <dgm:spPr/>
      <dgm:t>
        <a:bodyPr/>
        <a:lstStyle/>
        <a:p>
          <a:endParaRPr lang="en-US"/>
        </a:p>
      </dgm:t>
    </dgm:pt>
    <dgm:pt modelId="{C65FF35C-673F-49C3-B4A8-526DA8629530}" type="sibTrans" cxnId="{77355A29-0EEF-4267-AB7E-CF076AD7A5AD}">
      <dgm:prSet/>
      <dgm:spPr/>
      <dgm:t>
        <a:bodyPr/>
        <a:lstStyle/>
        <a:p>
          <a:endParaRPr lang="en-US"/>
        </a:p>
      </dgm:t>
    </dgm:pt>
    <dgm:pt modelId="{C8CA5F10-3A23-4A8B-8798-B5995BB3E6B1}">
      <dgm:prSet/>
      <dgm:spPr/>
      <dgm:t>
        <a:bodyPr/>
        <a:lstStyle/>
        <a:p>
          <a:r>
            <a:rPr lang="en-US" b="1"/>
            <a:t>Cognitive Interaction Engine:</a:t>
          </a:r>
          <a:r>
            <a:rPr lang="en-US"/>
            <a:t> Cross-references patient inputs against the OpenFDA API to flag potentially adverse Drug-Drug interactions.</a:t>
          </a:r>
        </a:p>
      </dgm:t>
    </dgm:pt>
    <dgm:pt modelId="{A1FD43CF-AEAE-47C8-9D74-4467DB3979B5}" type="parTrans" cxnId="{3A294735-F3A9-4EE2-BA08-94B279A2A4CA}">
      <dgm:prSet/>
      <dgm:spPr/>
      <dgm:t>
        <a:bodyPr/>
        <a:lstStyle/>
        <a:p>
          <a:endParaRPr lang="en-US"/>
        </a:p>
      </dgm:t>
    </dgm:pt>
    <dgm:pt modelId="{33153497-4E82-485C-AEDD-16C0683F7797}" type="sibTrans" cxnId="{3A294735-F3A9-4EE2-BA08-94B279A2A4CA}">
      <dgm:prSet/>
      <dgm:spPr/>
      <dgm:t>
        <a:bodyPr/>
        <a:lstStyle/>
        <a:p>
          <a:endParaRPr lang="en-US"/>
        </a:p>
      </dgm:t>
    </dgm:pt>
    <dgm:pt modelId="{3F4C5B18-AD51-4ACB-8810-E69276DAB549}" type="pres">
      <dgm:prSet presAssocID="{AFA259E3-8A77-48D4-86C5-3C61FB332C84}" presName="root" presStyleCnt="0">
        <dgm:presLayoutVars>
          <dgm:dir/>
          <dgm:resizeHandles val="exact"/>
        </dgm:presLayoutVars>
      </dgm:prSet>
      <dgm:spPr/>
    </dgm:pt>
    <dgm:pt modelId="{486DF529-F5B1-4DF7-A41B-5332AF711D65}" type="pres">
      <dgm:prSet presAssocID="{AFA259E3-8A77-48D4-86C5-3C61FB332C84}" presName="container" presStyleCnt="0">
        <dgm:presLayoutVars>
          <dgm:dir/>
          <dgm:resizeHandles val="exact"/>
        </dgm:presLayoutVars>
      </dgm:prSet>
      <dgm:spPr/>
    </dgm:pt>
    <dgm:pt modelId="{06EC1018-F478-4CB4-9ED1-8D715316FB79}" type="pres">
      <dgm:prSet presAssocID="{A96EAAAC-A248-42EC-A0BB-AB93D37C0AAF}" presName="compNode" presStyleCnt="0"/>
      <dgm:spPr/>
    </dgm:pt>
    <dgm:pt modelId="{175778AC-0F6A-44F5-97D1-2902583F5041}" type="pres">
      <dgm:prSet presAssocID="{A96EAAAC-A248-42EC-A0BB-AB93D37C0AAF}" presName="iconBgRect" presStyleLbl="bgShp" presStyleIdx="0" presStyleCnt="5"/>
      <dgm:spPr/>
    </dgm:pt>
    <dgm:pt modelId="{8BE192A8-D311-44F2-8BFE-3128D000B58C}" type="pres">
      <dgm:prSet presAssocID="{A96EAAAC-A248-42EC-A0BB-AB93D37C0AA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CB7FD460-437F-4E0C-B8E6-B93C4269C4ED}" type="pres">
      <dgm:prSet presAssocID="{A96EAAAC-A248-42EC-A0BB-AB93D37C0AAF}" presName="spaceRect" presStyleCnt="0"/>
      <dgm:spPr/>
    </dgm:pt>
    <dgm:pt modelId="{DB7C21A4-9BD7-4CE7-B5EB-59DE18AF86D4}" type="pres">
      <dgm:prSet presAssocID="{A96EAAAC-A248-42EC-A0BB-AB93D37C0AAF}" presName="textRect" presStyleLbl="revTx" presStyleIdx="0" presStyleCnt="5">
        <dgm:presLayoutVars>
          <dgm:chMax val="1"/>
          <dgm:chPref val="1"/>
        </dgm:presLayoutVars>
      </dgm:prSet>
      <dgm:spPr/>
    </dgm:pt>
    <dgm:pt modelId="{78B4E21B-4226-4618-9BC2-867F9D3C6B50}" type="pres">
      <dgm:prSet presAssocID="{47A398E7-5229-455F-A92A-251DC978EC67}" presName="sibTrans" presStyleLbl="sibTrans2D1" presStyleIdx="0" presStyleCnt="0"/>
      <dgm:spPr/>
    </dgm:pt>
    <dgm:pt modelId="{4C112B03-10DD-4CAE-A20B-59935389C368}" type="pres">
      <dgm:prSet presAssocID="{48EFFD5F-66B7-4C74-AE7C-5D69C600BDB2}" presName="compNode" presStyleCnt="0"/>
      <dgm:spPr/>
    </dgm:pt>
    <dgm:pt modelId="{B42F2E05-A526-47C5-8325-3F510E578EE8}" type="pres">
      <dgm:prSet presAssocID="{48EFFD5F-66B7-4C74-AE7C-5D69C600BDB2}" presName="iconBgRect" presStyleLbl="bgShp" presStyleIdx="1" presStyleCnt="5"/>
      <dgm:spPr/>
    </dgm:pt>
    <dgm:pt modelId="{59F44AC8-899B-450E-8BE3-88CF176A1B81}" type="pres">
      <dgm:prSet presAssocID="{48EFFD5F-66B7-4C74-AE7C-5D69C600BDB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E42FF81-05D5-40B0-9C88-E1122964FC1C}" type="pres">
      <dgm:prSet presAssocID="{48EFFD5F-66B7-4C74-AE7C-5D69C600BDB2}" presName="spaceRect" presStyleCnt="0"/>
      <dgm:spPr/>
    </dgm:pt>
    <dgm:pt modelId="{E4EEDDC1-BD43-4131-ACE1-D734ED5F1D83}" type="pres">
      <dgm:prSet presAssocID="{48EFFD5F-66B7-4C74-AE7C-5D69C600BDB2}" presName="textRect" presStyleLbl="revTx" presStyleIdx="1" presStyleCnt="5">
        <dgm:presLayoutVars>
          <dgm:chMax val="1"/>
          <dgm:chPref val="1"/>
        </dgm:presLayoutVars>
      </dgm:prSet>
      <dgm:spPr/>
    </dgm:pt>
    <dgm:pt modelId="{2DD115C9-EA1C-4C69-BA63-7B81C7E59A74}" type="pres">
      <dgm:prSet presAssocID="{480654B1-4BB2-4155-9037-BCF2A476AFF8}" presName="sibTrans" presStyleLbl="sibTrans2D1" presStyleIdx="0" presStyleCnt="0"/>
      <dgm:spPr/>
    </dgm:pt>
    <dgm:pt modelId="{97E936B0-BEF8-44E6-B7C0-9D9D27AE8022}" type="pres">
      <dgm:prSet presAssocID="{5A103B1C-D3A8-40CD-B5B3-85682C3E5D18}" presName="compNode" presStyleCnt="0"/>
      <dgm:spPr/>
    </dgm:pt>
    <dgm:pt modelId="{AA00FD9F-1F0C-4DCA-9DC9-46922EF85DFD}" type="pres">
      <dgm:prSet presAssocID="{5A103B1C-D3A8-40CD-B5B3-85682C3E5D18}" presName="iconBgRect" presStyleLbl="bgShp" presStyleIdx="2" presStyleCnt="5"/>
      <dgm:spPr/>
    </dgm:pt>
    <dgm:pt modelId="{CE9AF07F-C3B0-4A3D-8E01-D2B99C754FF3}" type="pres">
      <dgm:prSet presAssocID="{5A103B1C-D3A8-40CD-B5B3-85682C3E5D1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D3F3BB85-329C-4311-99FF-35FBF5F5DADC}" type="pres">
      <dgm:prSet presAssocID="{5A103B1C-D3A8-40CD-B5B3-85682C3E5D18}" presName="spaceRect" presStyleCnt="0"/>
      <dgm:spPr/>
    </dgm:pt>
    <dgm:pt modelId="{12ADA216-7FF1-4C78-9A69-71A1D482D399}" type="pres">
      <dgm:prSet presAssocID="{5A103B1C-D3A8-40CD-B5B3-85682C3E5D18}" presName="textRect" presStyleLbl="revTx" presStyleIdx="2" presStyleCnt="5">
        <dgm:presLayoutVars>
          <dgm:chMax val="1"/>
          <dgm:chPref val="1"/>
        </dgm:presLayoutVars>
      </dgm:prSet>
      <dgm:spPr/>
    </dgm:pt>
    <dgm:pt modelId="{23494E98-1EDF-4D3F-B6A7-4A576168A5A2}" type="pres">
      <dgm:prSet presAssocID="{25DB8389-E72A-447F-BC7D-888E489C970D}" presName="sibTrans" presStyleLbl="sibTrans2D1" presStyleIdx="0" presStyleCnt="0"/>
      <dgm:spPr/>
    </dgm:pt>
    <dgm:pt modelId="{60D3E21F-E97F-48AB-A42A-4CE775D7470F}" type="pres">
      <dgm:prSet presAssocID="{0D29C4DD-F700-4748-ACC1-7C06BCB61B71}" presName="compNode" presStyleCnt="0"/>
      <dgm:spPr/>
    </dgm:pt>
    <dgm:pt modelId="{54E52C1F-3115-4477-8359-803049EB1678}" type="pres">
      <dgm:prSet presAssocID="{0D29C4DD-F700-4748-ACC1-7C06BCB61B71}" presName="iconBgRect" presStyleLbl="bgShp" presStyleIdx="3" presStyleCnt="5"/>
      <dgm:spPr/>
    </dgm:pt>
    <dgm:pt modelId="{830FB36C-8ED2-4EE0-B9D2-8A53C4CF5C4B}" type="pres">
      <dgm:prSet presAssocID="{0D29C4DD-F700-4748-ACC1-7C06BCB61B7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40B63C7-2060-4E9F-BCF1-D402BE9A3071}" type="pres">
      <dgm:prSet presAssocID="{0D29C4DD-F700-4748-ACC1-7C06BCB61B71}" presName="spaceRect" presStyleCnt="0"/>
      <dgm:spPr/>
    </dgm:pt>
    <dgm:pt modelId="{01BB588A-E1D5-4A4E-B74E-0A6526E8E5BC}" type="pres">
      <dgm:prSet presAssocID="{0D29C4DD-F700-4748-ACC1-7C06BCB61B71}" presName="textRect" presStyleLbl="revTx" presStyleIdx="3" presStyleCnt="5">
        <dgm:presLayoutVars>
          <dgm:chMax val="1"/>
          <dgm:chPref val="1"/>
        </dgm:presLayoutVars>
      </dgm:prSet>
      <dgm:spPr/>
    </dgm:pt>
    <dgm:pt modelId="{E11D2F0C-2BC1-484C-813C-09ED6AD4ED8E}" type="pres">
      <dgm:prSet presAssocID="{C65FF35C-673F-49C3-B4A8-526DA8629530}" presName="sibTrans" presStyleLbl="sibTrans2D1" presStyleIdx="0" presStyleCnt="0"/>
      <dgm:spPr/>
    </dgm:pt>
    <dgm:pt modelId="{55627715-6EF1-4A72-BE4E-E2A148941668}" type="pres">
      <dgm:prSet presAssocID="{C8CA5F10-3A23-4A8B-8798-B5995BB3E6B1}" presName="compNode" presStyleCnt="0"/>
      <dgm:spPr/>
    </dgm:pt>
    <dgm:pt modelId="{01573E2F-65C4-4B77-8CF8-6D3B15AE2C66}" type="pres">
      <dgm:prSet presAssocID="{C8CA5F10-3A23-4A8B-8798-B5995BB3E6B1}" presName="iconBgRect" presStyleLbl="bgShp" presStyleIdx="4" presStyleCnt="5"/>
      <dgm:spPr/>
    </dgm:pt>
    <dgm:pt modelId="{5FBDD62B-88F6-4BB0-A5AF-6F08D3180788}" type="pres">
      <dgm:prSet presAssocID="{C8CA5F10-3A23-4A8B-8798-B5995BB3E6B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9161C2FA-F817-45D4-8395-D57D5179D180}" type="pres">
      <dgm:prSet presAssocID="{C8CA5F10-3A23-4A8B-8798-B5995BB3E6B1}" presName="spaceRect" presStyleCnt="0"/>
      <dgm:spPr/>
    </dgm:pt>
    <dgm:pt modelId="{7270CBE4-6C5E-4EAF-8781-1144315FBB02}" type="pres">
      <dgm:prSet presAssocID="{C8CA5F10-3A23-4A8B-8798-B5995BB3E6B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03CD807-0F3F-44DA-BD40-58BFC979022D}" type="presOf" srcId="{48EFFD5F-66B7-4C74-AE7C-5D69C600BDB2}" destId="{E4EEDDC1-BD43-4131-ACE1-D734ED5F1D83}" srcOrd="0" destOrd="0" presId="urn:microsoft.com/office/officeart/2018/2/layout/IconCircleList"/>
    <dgm:cxn modelId="{E68C8C1F-84AD-426F-876F-1897AF754F0C}" type="presOf" srcId="{A96EAAAC-A248-42EC-A0BB-AB93D37C0AAF}" destId="{DB7C21A4-9BD7-4CE7-B5EB-59DE18AF86D4}" srcOrd="0" destOrd="0" presId="urn:microsoft.com/office/officeart/2018/2/layout/IconCircleList"/>
    <dgm:cxn modelId="{77355A29-0EEF-4267-AB7E-CF076AD7A5AD}" srcId="{AFA259E3-8A77-48D4-86C5-3C61FB332C84}" destId="{0D29C4DD-F700-4748-ACC1-7C06BCB61B71}" srcOrd="3" destOrd="0" parTransId="{D762243F-48EF-440C-BBFF-BC0A556EBE75}" sibTransId="{C65FF35C-673F-49C3-B4A8-526DA8629530}"/>
    <dgm:cxn modelId="{963DAE34-94A4-4205-8957-F8FBBCA289F5}" type="presOf" srcId="{AFA259E3-8A77-48D4-86C5-3C61FB332C84}" destId="{3F4C5B18-AD51-4ACB-8810-E69276DAB549}" srcOrd="0" destOrd="0" presId="urn:microsoft.com/office/officeart/2018/2/layout/IconCircleList"/>
    <dgm:cxn modelId="{A47C6035-702C-425E-9D68-F3190E10FD15}" type="presOf" srcId="{25DB8389-E72A-447F-BC7D-888E489C970D}" destId="{23494E98-1EDF-4D3F-B6A7-4A576168A5A2}" srcOrd="0" destOrd="0" presId="urn:microsoft.com/office/officeart/2018/2/layout/IconCircleList"/>
    <dgm:cxn modelId="{3A294735-F3A9-4EE2-BA08-94B279A2A4CA}" srcId="{AFA259E3-8A77-48D4-86C5-3C61FB332C84}" destId="{C8CA5F10-3A23-4A8B-8798-B5995BB3E6B1}" srcOrd="4" destOrd="0" parTransId="{A1FD43CF-AEAE-47C8-9D74-4467DB3979B5}" sibTransId="{33153497-4E82-485C-AEDD-16C0683F7797}"/>
    <dgm:cxn modelId="{2FB05077-0F62-4CDE-8A6C-329800E2DD68}" type="presOf" srcId="{0D29C4DD-F700-4748-ACC1-7C06BCB61B71}" destId="{01BB588A-E1D5-4A4E-B74E-0A6526E8E5BC}" srcOrd="0" destOrd="0" presId="urn:microsoft.com/office/officeart/2018/2/layout/IconCircleList"/>
    <dgm:cxn modelId="{E2521289-A011-407F-9941-42E34A4DE595}" type="presOf" srcId="{C65FF35C-673F-49C3-B4A8-526DA8629530}" destId="{E11D2F0C-2BC1-484C-813C-09ED6AD4ED8E}" srcOrd="0" destOrd="0" presId="urn:microsoft.com/office/officeart/2018/2/layout/IconCircleList"/>
    <dgm:cxn modelId="{3B6BB493-2ADC-4AFB-B252-3041A4A4F456}" type="presOf" srcId="{C8CA5F10-3A23-4A8B-8798-B5995BB3E6B1}" destId="{7270CBE4-6C5E-4EAF-8781-1144315FBB02}" srcOrd="0" destOrd="0" presId="urn:microsoft.com/office/officeart/2018/2/layout/IconCircleList"/>
    <dgm:cxn modelId="{81D0C3A0-BEBF-40B1-9C1E-834D161AD141}" srcId="{AFA259E3-8A77-48D4-86C5-3C61FB332C84}" destId="{5A103B1C-D3A8-40CD-B5B3-85682C3E5D18}" srcOrd="2" destOrd="0" parTransId="{3BD94B42-73D0-41F5-A5F6-F45F335BC057}" sibTransId="{25DB8389-E72A-447F-BC7D-888E489C970D}"/>
    <dgm:cxn modelId="{1674FBB9-AEF2-4476-8CEA-8541C5B8DC2E}" type="presOf" srcId="{480654B1-4BB2-4155-9037-BCF2A476AFF8}" destId="{2DD115C9-EA1C-4C69-BA63-7B81C7E59A74}" srcOrd="0" destOrd="0" presId="urn:microsoft.com/office/officeart/2018/2/layout/IconCircleList"/>
    <dgm:cxn modelId="{AED396D4-3568-4A0A-A549-27BA8621B212}" srcId="{AFA259E3-8A77-48D4-86C5-3C61FB332C84}" destId="{48EFFD5F-66B7-4C74-AE7C-5D69C600BDB2}" srcOrd="1" destOrd="0" parTransId="{726F74E3-D8EF-4899-B15E-4CA88A726635}" sibTransId="{480654B1-4BB2-4155-9037-BCF2A476AFF8}"/>
    <dgm:cxn modelId="{7026A2D6-9465-49CA-9F6C-B87463894EEA}" type="presOf" srcId="{47A398E7-5229-455F-A92A-251DC978EC67}" destId="{78B4E21B-4226-4618-9BC2-867F9D3C6B50}" srcOrd="0" destOrd="0" presId="urn:microsoft.com/office/officeart/2018/2/layout/IconCircleList"/>
    <dgm:cxn modelId="{F55E68EC-ECEA-40F5-93F6-868C037EEF22}" srcId="{AFA259E3-8A77-48D4-86C5-3C61FB332C84}" destId="{A96EAAAC-A248-42EC-A0BB-AB93D37C0AAF}" srcOrd="0" destOrd="0" parTransId="{DC791E1D-C325-474A-9470-26FD973DAED1}" sibTransId="{47A398E7-5229-455F-A92A-251DC978EC67}"/>
    <dgm:cxn modelId="{B4AE1BF9-2C8F-4AAA-A9A6-F011CD443727}" type="presOf" srcId="{5A103B1C-D3A8-40CD-B5B3-85682C3E5D18}" destId="{12ADA216-7FF1-4C78-9A69-71A1D482D399}" srcOrd="0" destOrd="0" presId="urn:microsoft.com/office/officeart/2018/2/layout/IconCircleList"/>
    <dgm:cxn modelId="{A8579054-5941-475D-BD46-F615560C7992}" type="presParOf" srcId="{3F4C5B18-AD51-4ACB-8810-E69276DAB549}" destId="{486DF529-F5B1-4DF7-A41B-5332AF711D65}" srcOrd="0" destOrd="0" presId="urn:microsoft.com/office/officeart/2018/2/layout/IconCircleList"/>
    <dgm:cxn modelId="{B8B1E0EF-44DF-4E3C-9F18-428D8147CAE7}" type="presParOf" srcId="{486DF529-F5B1-4DF7-A41B-5332AF711D65}" destId="{06EC1018-F478-4CB4-9ED1-8D715316FB79}" srcOrd="0" destOrd="0" presId="urn:microsoft.com/office/officeart/2018/2/layout/IconCircleList"/>
    <dgm:cxn modelId="{CE93098E-9C75-486D-AC30-D5BEA57450F9}" type="presParOf" srcId="{06EC1018-F478-4CB4-9ED1-8D715316FB79}" destId="{175778AC-0F6A-44F5-97D1-2902583F5041}" srcOrd="0" destOrd="0" presId="urn:microsoft.com/office/officeart/2018/2/layout/IconCircleList"/>
    <dgm:cxn modelId="{79A3D28D-5EB3-4BD9-87B3-89A931E14CBB}" type="presParOf" srcId="{06EC1018-F478-4CB4-9ED1-8D715316FB79}" destId="{8BE192A8-D311-44F2-8BFE-3128D000B58C}" srcOrd="1" destOrd="0" presId="urn:microsoft.com/office/officeart/2018/2/layout/IconCircleList"/>
    <dgm:cxn modelId="{D54A733B-5751-4369-9893-436DA4DDDFB3}" type="presParOf" srcId="{06EC1018-F478-4CB4-9ED1-8D715316FB79}" destId="{CB7FD460-437F-4E0C-B8E6-B93C4269C4ED}" srcOrd="2" destOrd="0" presId="urn:microsoft.com/office/officeart/2018/2/layout/IconCircleList"/>
    <dgm:cxn modelId="{DC83DC19-32F5-46B7-A8E1-5DD777F9A20E}" type="presParOf" srcId="{06EC1018-F478-4CB4-9ED1-8D715316FB79}" destId="{DB7C21A4-9BD7-4CE7-B5EB-59DE18AF86D4}" srcOrd="3" destOrd="0" presId="urn:microsoft.com/office/officeart/2018/2/layout/IconCircleList"/>
    <dgm:cxn modelId="{087A0707-EA4B-4E63-8CA3-13ABBAA8A2FB}" type="presParOf" srcId="{486DF529-F5B1-4DF7-A41B-5332AF711D65}" destId="{78B4E21B-4226-4618-9BC2-867F9D3C6B50}" srcOrd="1" destOrd="0" presId="urn:microsoft.com/office/officeart/2018/2/layout/IconCircleList"/>
    <dgm:cxn modelId="{1DA5C1B3-6A24-4836-837F-98DA18F67497}" type="presParOf" srcId="{486DF529-F5B1-4DF7-A41B-5332AF711D65}" destId="{4C112B03-10DD-4CAE-A20B-59935389C368}" srcOrd="2" destOrd="0" presId="urn:microsoft.com/office/officeart/2018/2/layout/IconCircleList"/>
    <dgm:cxn modelId="{8C7243C0-9851-4533-8F2C-70207500FA7F}" type="presParOf" srcId="{4C112B03-10DD-4CAE-A20B-59935389C368}" destId="{B42F2E05-A526-47C5-8325-3F510E578EE8}" srcOrd="0" destOrd="0" presId="urn:microsoft.com/office/officeart/2018/2/layout/IconCircleList"/>
    <dgm:cxn modelId="{23DD9BE4-1A0F-457F-AF48-2F819E94DD3A}" type="presParOf" srcId="{4C112B03-10DD-4CAE-A20B-59935389C368}" destId="{59F44AC8-899B-450E-8BE3-88CF176A1B81}" srcOrd="1" destOrd="0" presId="urn:microsoft.com/office/officeart/2018/2/layout/IconCircleList"/>
    <dgm:cxn modelId="{00AAE5EF-E408-4EAF-999F-505F7C22AC4D}" type="presParOf" srcId="{4C112B03-10DD-4CAE-A20B-59935389C368}" destId="{FE42FF81-05D5-40B0-9C88-E1122964FC1C}" srcOrd="2" destOrd="0" presId="urn:microsoft.com/office/officeart/2018/2/layout/IconCircleList"/>
    <dgm:cxn modelId="{2606EC42-F124-41E4-94A9-FED815652806}" type="presParOf" srcId="{4C112B03-10DD-4CAE-A20B-59935389C368}" destId="{E4EEDDC1-BD43-4131-ACE1-D734ED5F1D83}" srcOrd="3" destOrd="0" presId="urn:microsoft.com/office/officeart/2018/2/layout/IconCircleList"/>
    <dgm:cxn modelId="{14A60D1C-5F11-4C54-9DA6-9E00A865828A}" type="presParOf" srcId="{486DF529-F5B1-4DF7-A41B-5332AF711D65}" destId="{2DD115C9-EA1C-4C69-BA63-7B81C7E59A74}" srcOrd="3" destOrd="0" presId="urn:microsoft.com/office/officeart/2018/2/layout/IconCircleList"/>
    <dgm:cxn modelId="{C3C92FA5-AC5E-40F4-A2DC-FAB04576749F}" type="presParOf" srcId="{486DF529-F5B1-4DF7-A41B-5332AF711D65}" destId="{97E936B0-BEF8-44E6-B7C0-9D9D27AE8022}" srcOrd="4" destOrd="0" presId="urn:microsoft.com/office/officeart/2018/2/layout/IconCircleList"/>
    <dgm:cxn modelId="{7C7C44A6-B51F-4E3A-8A1E-6BA2A8590F61}" type="presParOf" srcId="{97E936B0-BEF8-44E6-B7C0-9D9D27AE8022}" destId="{AA00FD9F-1F0C-4DCA-9DC9-46922EF85DFD}" srcOrd="0" destOrd="0" presId="urn:microsoft.com/office/officeart/2018/2/layout/IconCircleList"/>
    <dgm:cxn modelId="{7A8B6CD3-D854-40B1-AC6D-7DBCA2874569}" type="presParOf" srcId="{97E936B0-BEF8-44E6-B7C0-9D9D27AE8022}" destId="{CE9AF07F-C3B0-4A3D-8E01-D2B99C754FF3}" srcOrd="1" destOrd="0" presId="urn:microsoft.com/office/officeart/2018/2/layout/IconCircleList"/>
    <dgm:cxn modelId="{3A665F01-FD41-4AE7-B6EB-6FF8B750751C}" type="presParOf" srcId="{97E936B0-BEF8-44E6-B7C0-9D9D27AE8022}" destId="{D3F3BB85-329C-4311-99FF-35FBF5F5DADC}" srcOrd="2" destOrd="0" presId="urn:microsoft.com/office/officeart/2018/2/layout/IconCircleList"/>
    <dgm:cxn modelId="{2C0D2DA6-B52F-4500-8DDC-C825360A3B42}" type="presParOf" srcId="{97E936B0-BEF8-44E6-B7C0-9D9D27AE8022}" destId="{12ADA216-7FF1-4C78-9A69-71A1D482D399}" srcOrd="3" destOrd="0" presId="urn:microsoft.com/office/officeart/2018/2/layout/IconCircleList"/>
    <dgm:cxn modelId="{9A150B00-3EFB-4C86-82EC-9CC4ED7282D7}" type="presParOf" srcId="{486DF529-F5B1-4DF7-A41B-5332AF711D65}" destId="{23494E98-1EDF-4D3F-B6A7-4A576168A5A2}" srcOrd="5" destOrd="0" presId="urn:microsoft.com/office/officeart/2018/2/layout/IconCircleList"/>
    <dgm:cxn modelId="{662A2929-34C7-4F4E-BE59-52253D379E54}" type="presParOf" srcId="{486DF529-F5B1-4DF7-A41B-5332AF711D65}" destId="{60D3E21F-E97F-48AB-A42A-4CE775D7470F}" srcOrd="6" destOrd="0" presId="urn:microsoft.com/office/officeart/2018/2/layout/IconCircleList"/>
    <dgm:cxn modelId="{D8516F42-35B5-45B9-BF14-F7AD04B75240}" type="presParOf" srcId="{60D3E21F-E97F-48AB-A42A-4CE775D7470F}" destId="{54E52C1F-3115-4477-8359-803049EB1678}" srcOrd="0" destOrd="0" presId="urn:microsoft.com/office/officeart/2018/2/layout/IconCircleList"/>
    <dgm:cxn modelId="{6C2B41F2-A1A4-48F6-82C9-65B60ADE0052}" type="presParOf" srcId="{60D3E21F-E97F-48AB-A42A-4CE775D7470F}" destId="{830FB36C-8ED2-4EE0-B9D2-8A53C4CF5C4B}" srcOrd="1" destOrd="0" presId="urn:microsoft.com/office/officeart/2018/2/layout/IconCircleList"/>
    <dgm:cxn modelId="{054244C9-5881-4246-9DEC-53FEBBBC26DB}" type="presParOf" srcId="{60D3E21F-E97F-48AB-A42A-4CE775D7470F}" destId="{640B63C7-2060-4E9F-BCF1-D402BE9A3071}" srcOrd="2" destOrd="0" presId="urn:microsoft.com/office/officeart/2018/2/layout/IconCircleList"/>
    <dgm:cxn modelId="{0BC81BD0-4FB0-4197-856A-893583509FD9}" type="presParOf" srcId="{60D3E21F-E97F-48AB-A42A-4CE775D7470F}" destId="{01BB588A-E1D5-4A4E-B74E-0A6526E8E5BC}" srcOrd="3" destOrd="0" presId="urn:microsoft.com/office/officeart/2018/2/layout/IconCircleList"/>
    <dgm:cxn modelId="{FB6D81C0-D8FB-4E99-98BF-3A6CC3248981}" type="presParOf" srcId="{486DF529-F5B1-4DF7-A41B-5332AF711D65}" destId="{E11D2F0C-2BC1-484C-813C-09ED6AD4ED8E}" srcOrd="7" destOrd="0" presId="urn:microsoft.com/office/officeart/2018/2/layout/IconCircleList"/>
    <dgm:cxn modelId="{3FDA2162-F42F-4575-885C-310BBFEB1C73}" type="presParOf" srcId="{486DF529-F5B1-4DF7-A41B-5332AF711D65}" destId="{55627715-6EF1-4A72-BE4E-E2A148941668}" srcOrd="8" destOrd="0" presId="urn:microsoft.com/office/officeart/2018/2/layout/IconCircleList"/>
    <dgm:cxn modelId="{F2564529-0823-4E4C-8AC8-20372E34E4D1}" type="presParOf" srcId="{55627715-6EF1-4A72-BE4E-E2A148941668}" destId="{01573E2F-65C4-4B77-8CF8-6D3B15AE2C66}" srcOrd="0" destOrd="0" presId="urn:microsoft.com/office/officeart/2018/2/layout/IconCircleList"/>
    <dgm:cxn modelId="{17813BC6-71CD-4E46-9A9A-6C246A83274E}" type="presParOf" srcId="{55627715-6EF1-4A72-BE4E-E2A148941668}" destId="{5FBDD62B-88F6-4BB0-A5AF-6F08D3180788}" srcOrd="1" destOrd="0" presId="urn:microsoft.com/office/officeart/2018/2/layout/IconCircleList"/>
    <dgm:cxn modelId="{F33FBDF9-3A33-4AE5-91DB-51408BFF0D4D}" type="presParOf" srcId="{55627715-6EF1-4A72-BE4E-E2A148941668}" destId="{9161C2FA-F817-45D4-8395-D57D5179D180}" srcOrd="2" destOrd="0" presId="urn:microsoft.com/office/officeart/2018/2/layout/IconCircleList"/>
    <dgm:cxn modelId="{17ED0942-1C4A-48A9-A99E-CDD1C599B51A}" type="presParOf" srcId="{55627715-6EF1-4A72-BE4E-E2A148941668}" destId="{7270CBE4-6C5E-4EAF-8781-1144315FBB0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778AC-0F6A-44F5-97D1-2902583F5041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192A8-D311-44F2-8BFE-3128D000B58C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C21A4-9BD7-4CE7-B5EB-59DE18AF86D4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Deterministic Equivalency Mapping:</a:t>
          </a:r>
          <a:r>
            <a:rPr lang="en-US" sz="1100" kern="1200"/>
            <a:t> Extracts chemical salts via NER and queries the generic database for a guaranteed therapeutic match.</a:t>
          </a:r>
        </a:p>
      </dsp:txBody>
      <dsp:txXfrm>
        <a:off x="1172126" y="908559"/>
        <a:ext cx="2114937" cy="897246"/>
      </dsp:txXfrm>
    </dsp:sp>
    <dsp:sp modelId="{B42F2E05-A526-47C5-8325-3F510E578EE8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44AC8-899B-450E-8BE3-88CF176A1B81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EDDC1-BD43-4131-ACE1-D734ED5F1D83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Dynamic Savings Calculator:</a:t>
          </a:r>
          <a:r>
            <a:rPr lang="en-US" sz="1100" kern="1200"/>
            <a:t> Computes and displays financial savings per unit/strip dynamically.</a:t>
          </a:r>
        </a:p>
      </dsp:txBody>
      <dsp:txXfrm>
        <a:off x="4745088" y="908559"/>
        <a:ext cx="2114937" cy="897246"/>
      </dsp:txXfrm>
    </dsp:sp>
    <dsp:sp modelId="{AA00FD9F-1F0C-4DCA-9DC9-46922EF85DFD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AF07F-C3B0-4A3D-8E01-D2B99C754FF3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DA216-7FF1-4C78-9A69-71A1D482D399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"Equivalency Trust" Display:</a:t>
          </a:r>
          <a:r>
            <a:rPr lang="en-US" sz="1100" kern="1200"/>
            <a:t> Renders a split-screen view mapping the side effect profiles of both the branded and generic drugs to visually prove therapeutic equivalency.</a:t>
          </a:r>
        </a:p>
      </dsp:txBody>
      <dsp:txXfrm>
        <a:off x="8318049" y="908559"/>
        <a:ext cx="2114937" cy="897246"/>
      </dsp:txXfrm>
    </dsp:sp>
    <dsp:sp modelId="{54E52C1F-3115-4477-8359-803049EB1678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FB36C-8ED2-4EE0-B9D2-8A53C4CF5C4B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B588A-E1D5-4A4E-B74E-0A6526E8E5BC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Multi-Layer Counterfeit Detection:</a:t>
          </a:r>
          <a:r>
            <a:rPr lang="en-US" sz="1100" kern="1200"/>
            <a:t> Integrates a statistical </a:t>
          </a:r>
          <a:r>
            <a:rPr lang="en-US" sz="1100" b="1" kern="1200"/>
            <a:t>Price Anomaly Heuristic</a:t>
          </a:r>
          <a:r>
            <a:rPr lang="en-US" sz="1100" kern="1200"/>
            <a:t> and an OSINT-driven </a:t>
          </a:r>
          <a:r>
            <a:rPr lang="en-US" sz="1100" b="1" kern="1200"/>
            <a:t>CDSCO Batch Blacklist Scraper</a:t>
          </a:r>
          <a:r>
            <a:rPr lang="en-US" sz="1100" kern="1200"/>
            <a:t> to identify suspicious market dumping and recalled spurious drugs.</a:t>
          </a:r>
        </a:p>
      </dsp:txBody>
      <dsp:txXfrm>
        <a:off x="1172126" y="2545532"/>
        <a:ext cx="2114937" cy="897246"/>
      </dsp:txXfrm>
    </dsp:sp>
    <dsp:sp modelId="{01573E2F-65C4-4B77-8CF8-6D3B15AE2C66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DD62B-88F6-4BB0-A5AF-6F08D3180788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0CBE4-6C5E-4EAF-8781-1144315FBB02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Cognitive Interaction Engine:</a:t>
          </a:r>
          <a:r>
            <a:rPr lang="en-US" sz="1100" kern="1200"/>
            <a:t> Cross-references patient inputs against the OpenFDA API to flag potentially adverse Drug-Drug interactions.</a:t>
          </a:r>
        </a:p>
      </dsp:txBody>
      <dsp:txXfrm>
        <a:off x="4745088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894A3-9DBA-44D0-A2E9-5DF2A06BAE13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9FB25-B919-4D33-932F-6F02F3A8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6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deterministic SHA-256 hash match also triggers our Clinical Failsafe: if no exact salt match is found, the system refuses to guess and alerts the user to consult a physician instead of returning an uncertain substitution.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0543" y="2303115"/>
            <a:ext cx="7310913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1E3A8A"/>
                </a:solidFill>
                <a:latin typeface="Poppins"/>
              </a:rPr>
              <a:t>GenMed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4612" y="3503265"/>
            <a:ext cx="6962775" cy="328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dirty="0">
                <a:solidFill>
                  <a:srgbClr val="0F172A"/>
                </a:solidFill>
                <a:latin typeface="Lato SemiBold"/>
              </a:rPr>
              <a:t>Find Generic Medicines for your needs.</a:t>
            </a:r>
            <a:endParaRPr sz="1800" b="0" i="0" u="none" dirty="0">
              <a:solidFill>
                <a:srgbClr val="0F172A"/>
              </a:solidFill>
              <a:latin typeface="Lato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14612" y="4059435"/>
            <a:ext cx="6962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A Deterministic Exact-Match Engine for Cost-Effective Pharmaceutical Substitutions.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CD7C2-11FD-0A4F-C8EF-3F98657DFAFC}"/>
              </a:ext>
            </a:extLst>
          </p:cNvPr>
          <p:cNvSpPr txBox="1"/>
          <p:nvPr/>
        </p:nvSpPr>
        <p:spPr>
          <a:xfrm>
            <a:off x="9577387" y="5320089"/>
            <a:ext cx="191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By:- Nihal Panwar</a:t>
            </a:r>
            <a:br>
              <a:rPr lang="en-US" dirty="0"/>
            </a:br>
            <a:r>
              <a:rPr lang="en-US" dirty="0"/>
              <a:t>        4MCA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515641"/>
            <a:ext cx="952500" cy="476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95462" y="2849016"/>
            <a:ext cx="86010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1E3A8A"/>
                </a:solidFill>
                <a:latin typeface="Poppins"/>
              </a:rPr>
              <a:t>Objectives &amp; SDG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96766"/>
            <a:ext cx="6667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Addressing the critical need for affordable healthcare access through intelligent data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28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9550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095500"/>
            <a:ext cx="5000625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Goal 3: Good Health &amp; Well-being</a:t>
            </a:r>
            <a:r>
              <a:t>
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Democratizes access to essential, high-quality generic medicines (PMBJP network), actively reducing out-of-pocket expenditures.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396257"/>
            <a:ext cx="500062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Goal 9: Industry &amp; Innovation</a:t>
            </a:r>
            <a:r>
              <a:t>
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Replaces manual pharmacy queries with an automated, scalable NLP and deterministic mapping algorithm.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407544"/>
            <a:ext cx="5000625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475569"/>
                </a:solidFill>
                <a:latin typeface="Lato"/>
              </a:rPr>
              <a:t>Specialization Concepts</a:t>
            </a:r>
            <a:r>
              <a:rPr dirty="0"/>
              <a:t>
</a:t>
            </a:r>
            <a:r>
              <a:rPr sz="1425" b="0" i="0" u="none" dirty="0">
                <a:solidFill>
                  <a:srgbClr val="475569"/>
                </a:solidFill>
                <a:latin typeface="Lato"/>
              </a:rPr>
              <a:t> Integrates Natural Language Processing (NER) for parsing, Data Science for inventory structuring, and Full-Stack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Aligning with Global Impact Goals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95500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96257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7544"/>
            <a:ext cx="95250" cy="200025"/>
          </a:xfrm>
          <a:prstGeom prst="rect">
            <a:avLst/>
          </a:prstGeom>
        </p:spPr>
      </p:pic>
      <p:pic>
        <p:nvPicPr>
          <p:cNvPr id="12" name="Picture 11" descr="UN Sustainable Development Goals - Global Economic Sustainable ...">
            <a:extLst>
              <a:ext uri="{FF2B5EF4-FFF2-40B4-BE49-F238E27FC236}">
                <a16:creationId xmlns:a16="http://schemas.microsoft.com/office/drawing/2014/main" id="{48C0AE5C-12F1-700A-5FDC-5D99FD9E5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144" y="1148621"/>
            <a:ext cx="5181606" cy="51378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53591"/>
            <a:ext cx="11049000" cy="5103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354091"/>
            <a:ext cx="9944100" cy="959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01091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The Cost Problem: Healthcare Expenditure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515641"/>
            <a:ext cx="952500" cy="476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70709" y="2849016"/>
            <a:ext cx="4650581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1E3A8A"/>
                </a:solidFill>
                <a:latin typeface="Poppins"/>
              </a:rPr>
              <a:t>Analysis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96766"/>
            <a:ext cx="6667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Evaluating existing healthcare search limitations and establishing robust system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4113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54113"/>
            <a:ext cx="5000625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Dangerous Probabilistic Matching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Existing recommendation engines use algorithms like Cosine Similarity, which can output the wrong drug if names are textually similar.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820590"/>
            <a:ext cx="5000625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Fragmented Inventory Data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Patients cannot easily cross-reference expensive branded prescriptions against localized, government-subsidized generic inventories.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687067"/>
            <a:ext cx="5000625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Lack of Equivalency Focus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Most platforms focus on brand-to-brand substitution rather than mapping precise Active Pharmaceutical Ingredients (APIs).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Limitations of Current Systems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54113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20590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87067"/>
            <a:ext cx="95250" cy="200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382B41-9473-FA29-29A1-509E2F132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117" y="148679"/>
            <a:ext cx="6212383" cy="62123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" y="4553544"/>
            <a:ext cx="5000625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Zero Clinical Interaction Oversight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Existing apps only compare prices without checking if stacking generic alternatives triggers dangerous Drug-Drug Interactions.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5420021"/>
            <a:ext cx="5000625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00" b="1" i="0" u="none">
                <a:solidFill>
                  <a:srgbClr val="475569"/>
                </a:solidFill>
                <a:latin typeface="Lato"/>
              </a:rPr>
              <a:t>No Counterfeit Safety Net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No consumer tool cross-references batch numbers against CDSCO monthly recall blacklists or detects artificial price dumping.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53544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0021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0975"/>
            <a:ext cx="3429000" cy="41085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850975"/>
            <a:ext cx="3429000" cy="410854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850975"/>
            <a:ext cx="3429000" cy="410854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241500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146375"/>
            <a:ext cx="27953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NLP Entity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89300"/>
            <a:ext cx="2838450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Utilizes advanced NLP exclusively for Named Entity Recognition (NER) to safely parse user input into distinct 'Brand' and 'Dosage' parameters without probabilistic guessing.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241500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6775" y="3146375"/>
            <a:ext cx="287035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Deterministic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689300"/>
            <a:ext cx="283845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Enforces a strict, rule-based Exact-Match algorithm against the chemical composition (salt strings), guaranteeing 100% therapeutic equivalency in recommendations.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241500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86775" y="3146375"/>
            <a:ext cx="251531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PMBJP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689300"/>
            <a:ext cx="28384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Directly maps results to the official Jan Aushadhi database, proving real-world cost savings via local government generic centers.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403425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2403425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4887" y="2403425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1E3A8A"/>
                </a:solidFill>
                <a:latin typeface="Poppins SemiBold"/>
              </a:rPr>
              <a:t>Proposed System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21498-1EE5-6ABA-50D8-B9EA4EB7C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TextBox 19">
            <a:extLst>
              <a:ext uri="{FF2B5EF4-FFF2-40B4-BE49-F238E27FC236}">
                <a16:creationId xmlns:a16="http://schemas.microsoft.com/office/drawing/2014/main" id="{794D5876-5FDC-AA85-4CED-D01CA5BB2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85432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498899D-96B9-682B-865F-6D3C25FF8611}"/>
              </a:ext>
            </a:extLst>
          </p:cNvPr>
          <p:cNvSpPr txBox="1"/>
          <p:nvPr/>
        </p:nvSpPr>
        <p:spPr>
          <a:xfrm>
            <a:off x="3181102" y="1800911"/>
            <a:ext cx="60935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1E3A8A"/>
                </a:solidFill>
                <a:latin typeface="Poppins SemiBold"/>
              </a:rPr>
              <a:t>Proposed System Features</a:t>
            </a:r>
          </a:p>
        </p:txBody>
      </p:sp>
    </p:spTree>
    <p:extLst>
      <p:ext uri="{BB962C8B-B14F-4D97-AF65-F5344CB8AC3E}">
        <p14:creationId xmlns:p14="http://schemas.microsoft.com/office/powerpoint/2010/main" val="34610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476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6" y="5898059"/>
            <a:ext cx="9944100" cy="959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Cost Savings Analysis (Per Strip)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8667"/>
            <a:ext cx="5286375" cy="43731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18667"/>
            <a:ext cx="5286375" cy="43731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109192"/>
            <a:ext cx="473059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059669"/>
                </a:solidFill>
                <a:latin typeface="Poppins SemiBold"/>
              </a:rP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260449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4650" y="2109192"/>
            <a:ext cx="473059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59669"/>
                </a:solidFill>
                <a:latin typeface="Poppins SemiBold"/>
              </a:rPr>
              <a:t>Non-Functional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4650" y="260449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7775" y="2814042"/>
            <a:ext cx="42195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475569"/>
                </a:solidFill>
                <a:latin typeface="Lato"/>
              </a:rPr>
              <a:t>Query System:</a:t>
            </a:r>
            <a:r>
              <a:rPr sz="1425" b="0" i="0" u="none" dirty="0">
                <a:solidFill>
                  <a:srgbClr val="475569"/>
                </a:solidFill>
                <a:latin typeface="Lato"/>
              </a:rPr>
              <a:t> Users input branded medicine names and dosages naturally.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535858"/>
            <a:ext cx="42195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Equivalency Mapping: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Extract chemical salts and query the generic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257675"/>
            <a:ext cx="42195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Savings Calculator: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Compute and display financial savings per unit/strip dynamically.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979491"/>
            <a:ext cx="4219575" cy="8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475569"/>
                </a:solidFill>
                <a:latin typeface="Lato"/>
              </a:rPr>
              <a:t>Geolocation:</a:t>
            </a:r>
            <a:r>
              <a:rPr sz="1425" b="0" i="0" u="none" dirty="0">
                <a:solidFill>
                  <a:srgbClr val="475569"/>
                </a:solidFill>
                <a:latin typeface="Lato"/>
              </a:rPr>
              <a:t> Locate nearest Jan </a:t>
            </a:r>
            <a:r>
              <a:rPr sz="1425" b="0" i="0" u="none" dirty="0" err="1">
                <a:solidFill>
                  <a:srgbClr val="475569"/>
                </a:solidFill>
                <a:latin typeface="Lato"/>
              </a:rPr>
              <a:t>Aushadhi</a:t>
            </a:r>
            <a:r>
              <a:rPr sz="1425" b="0" i="0" u="none" dirty="0">
                <a:solidFill>
                  <a:srgbClr val="475569"/>
                </a:solidFill>
                <a:latin typeface="Lato"/>
              </a:rPr>
              <a:t> Kendra based on results.</a:t>
            </a:r>
            <a:endParaRPr lang="en-US" sz="1425" b="0" i="0" u="none" dirty="0">
              <a:solidFill>
                <a:srgbClr val="475569"/>
              </a:solidFill>
              <a:latin typeface="Lato"/>
            </a:endParaRPr>
          </a:p>
          <a:p>
            <a:pPr algn="l">
              <a:lnSpc>
                <a:spcPts val="2279"/>
              </a:lnSpc>
            </a:pPr>
            <a:endParaRPr sz="1425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10400" y="2814042"/>
            <a:ext cx="42195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Accuracy: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100% deterministic accuracy required; failsafe UI message if no exact salt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3535858"/>
            <a:ext cx="42195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Performance: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Sub-second latency for NLP extraction and database querying.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4257675"/>
            <a:ext cx="42195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Lato"/>
              </a:rPr>
              <a:t>Scalability: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Architecture must support large-scale ingestion of scraped pharmaceutical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Requirement Specifications (SRS)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814042"/>
            <a:ext cx="952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535858"/>
            <a:ext cx="952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257675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979491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814042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535858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425767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515641"/>
            <a:ext cx="952500" cy="476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30741" y="2849016"/>
            <a:ext cx="4130516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1E3A8A"/>
                </a:solidFill>
                <a:latin typeface="Poppins"/>
              </a:rPr>
              <a:t>Design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96766"/>
            <a:ext cx="6667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Architectural blueprints covering System Modules, Database Design, Algorithmic Logic, and UI Prototyping.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5636"/>
            <a:ext cx="3429000" cy="38190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95636"/>
            <a:ext cx="3429000" cy="38190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95636"/>
            <a:ext cx="3429000" cy="381907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386161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291036"/>
            <a:ext cx="264533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Client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33961"/>
            <a:ext cx="283845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A React.js frontend providing a secure interface. Features dynamic visual feedback, savings gauges, and interactive geospatial mapping for pharmacies.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386161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6775" y="3291036"/>
            <a:ext cx="175521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833961"/>
            <a:ext cx="283845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Node.js/Express server acting as the traffic controller. Handles user session management and orchestrates calls to the MongoDB cluster.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386161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86775" y="3291036"/>
            <a:ext cx="264033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Algorithmic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833961"/>
            <a:ext cx="28384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Python/FastAPI microservice. Ingests raw text, runs NER for parameter extraction, and executes strict chemical validation rules.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548086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2548086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0" y="2548086"/>
            <a:ext cx="3048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Microservices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36775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Deterministic Mapping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79700"/>
            <a:ext cx="52863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74151"/>
                </a:solidFill>
                <a:latin typeface="Lato"/>
              </a:rPr>
              <a:t>Replaces risky probabilistic models with a strict, rule-based Exact-Match algorithm. NLP is isolated strictly to Named Entity Recognition (NER) for initial text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176712"/>
            <a:ext cx="52863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74151"/>
                </a:solidFill>
                <a:latin typeface="Lato"/>
              </a:rPr>
              <a:t>By enforcing a strict hash-matching protocol against Active Pharmaceutical Ingredients (APIs), the system ensures absolute zero risk of clinical hallucination or improper substitution.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B4C5A6-2B95-7904-A55C-411D7E136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311" y="571501"/>
            <a:ext cx="5258756" cy="55621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2840"/>
            <a:ext cx="5286375" cy="340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72840"/>
            <a:ext cx="5286375" cy="3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84185"/>
            <a:ext cx="4730591" cy="334127"/>
          </a:xfrm>
          <a:prstGeom prst="rect">
            <a:avLst/>
          </a:prstGeom>
          <a:noFill/>
        </p:spPr>
        <p:txBody>
          <a:bodyPr wrap="square" lIns="328612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59669"/>
                </a:solidFill>
                <a:latin typeface="Poppins SemiBold"/>
              </a:rPr>
              <a:t>Branded_Drugs Collection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247906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25" y="2646126"/>
            <a:ext cx="4505325" cy="46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Stores commercial pharmaceutical data. Designed for rapid lookups of user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084185"/>
            <a:ext cx="4730591" cy="334127"/>
          </a:xfrm>
          <a:prstGeom prst="rect">
            <a:avLst/>
          </a:prstGeom>
          <a:noFill/>
        </p:spPr>
        <p:txBody>
          <a:bodyPr wrap="square" lIns="328612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59669"/>
                </a:solidFill>
                <a:latin typeface="Poppins SemiBold"/>
              </a:rPr>
              <a:t>Generic_Inventory Collection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4650" y="247906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4650" y="2646126"/>
            <a:ext cx="4505325" cy="46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Houses the PMBJP dataset. Optimized for strict chemical matching.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129748"/>
            <a:ext cx="233362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7775" y="3221593"/>
            <a:ext cx="4219575" cy="238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_id: ObjectID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3573873"/>
            <a:ext cx="4219575" cy="238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brand_name: String (Indexed)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3926154"/>
            <a:ext cx="4219575" cy="46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active_ingredients: Array of Objects [{salt: String, strength: String}]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4509215"/>
            <a:ext cx="4219575" cy="238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mrp_price: Decimal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129748"/>
            <a:ext cx="233362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10400" y="3221593"/>
            <a:ext cx="4219575" cy="238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_id: ObjectID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573873"/>
            <a:ext cx="4219575" cy="238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generic_name: 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3926154"/>
            <a:ext cx="4219575" cy="46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salt_composition_hash: String (Strict Index for exact match)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4509215"/>
            <a:ext cx="4219575" cy="238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jan_aushadhi_price: Decimal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Database Schema Design (MongoDB)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221593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573873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926154"/>
            <a:ext cx="952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509215"/>
            <a:ext cx="952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3221593"/>
            <a:ext cx="952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3573873"/>
            <a:ext cx="952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3926154"/>
            <a:ext cx="9525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4509215"/>
            <a:ext cx="95250" cy="2000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22840"/>
            <a:ext cx="5286375" cy="700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7250" y="5412840"/>
            <a:ext cx="4730591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59669"/>
                </a:solidFill>
                <a:latin typeface="Poppins SemiBold"/>
              </a:rPr>
              <a:t>Blacklisted_Batches Collection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" y="5642840"/>
            <a:ext cx="4730591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475569"/>
                </a:solidFill>
                <a:latin typeface="Lato"/>
              </a:rPr>
              <a:t>CDSCO OSINT: indexes alphanumeric batch numbers for instant spurious/recalled drug alerts.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5322840"/>
            <a:ext cx="5286375" cy="700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19875" y="5412840"/>
            <a:ext cx="4730591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59669"/>
                </a:solidFill>
                <a:latin typeface="Poppins SemiBold"/>
              </a:rPr>
              <a:t>Janaushadhi_Stores Collection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9875" y="5642840"/>
            <a:ext cx="4730591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475569"/>
                </a:solidFill>
                <a:latin typeface="Lato"/>
              </a:rPr>
              <a:t>Geospatial: MongoDB 2dsphere indexing maps the nearest physical Jan Aushadhi Kendra.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9550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095500"/>
            <a:ext cx="5000625" cy="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50" b="1" i="0" u="none">
                <a:solidFill>
                  <a:srgbClr val="475569"/>
                </a:solidFill>
                <a:latin typeface="Lato"/>
              </a:rPr>
              <a:t>Minimalist Search Interface:</a:t>
            </a:r>
            <a:r>
              <a:rPr sz="1150" b="0" i="0" u="none">
                <a:solidFill>
                  <a:srgbClr val="475569"/>
                </a:solidFill>
                <a:latin typeface="Lato"/>
              </a:rPr>
              <a:t> Clean search bar prioritizing immediate patient utility without complex medical jargon.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843530"/>
            <a:ext cx="5000625" cy="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50" b="1" i="0" u="none">
                <a:solidFill>
                  <a:srgbClr val="475569"/>
                </a:solidFill>
                <a:latin typeface="Lato"/>
              </a:rPr>
              <a:t>Split-Screen Comparison:</a:t>
            </a:r>
            <a:r>
              <a:rPr sz="1150" b="0" i="0" u="none">
                <a:solidFill>
                  <a:srgbClr val="475569"/>
                </a:solidFill>
                <a:latin typeface="Lato"/>
              </a:rPr>
              <a:t> Dynamically renders the expensive branded medication against the chemical equivalent generic.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591560"/>
            <a:ext cx="5000625" cy="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50" b="1" i="0" u="none">
                <a:solidFill>
                  <a:srgbClr val="475569"/>
                </a:solidFill>
                <a:latin typeface="Lato"/>
              </a:rPr>
              <a:t>Visual Savings Gauge:</a:t>
            </a:r>
            <a:r>
              <a:rPr sz="1150" b="0" i="0" u="none">
                <a:solidFill>
                  <a:srgbClr val="475569"/>
                </a:solidFill>
                <a:latin typeface="Lato"/>
              </a:rPr>
              <a:t> A bold, color-coded metric instantly calculating the percentage of money saved.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339590"/>
            <a:ext cx="5000625" cy="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50" b="1" i="0" u="none">
                <a:solidFill>
                  <a:srgbClr val="475569"/>
                </a:solidFill>
                <a:latin typeface="Lato"/>
              </a:rPr>
              <a:t>Actionable Failsafes:</a:t>
            </a:r>
            <a:r>
              <a:rPr sz="1150" b="0" i="0" u="none">
                <a:solidFill>
                  <a:srgbClr val="475569"/>
                </a:solidFill>
                <a:latin typeface="Lato"/>
              </a:rPr>
              <a:t> Hard-coded warnings if exact matches aren't found, preventing unsafe substitutions.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UI/UX Prototype Vision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95500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43530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91560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39590"/>
            <a:ext cx="95250" cy="200025"/>
          </a:xfrm>
          <a:prstGeom prst="rect">
            <a:avLst/>
          </a:prstGeom>
        </p:spPr>
      </p:pic>
      <p:pic>
        <p:nvPicPr>
          <p:cNvPr id="14" name="Picture 13" descr="Ui Ux Designer Vector Icon Design 15771729 Vector Art at Vecteezy">
            <a:extLst>
              <a:ext uri="{FF2B5EF4-FFF2-40B4-BE49-F238E27FC236}">
                <a16:creationId xmlns:a16="http://schemas.microsoft.com/office/drawing/2014/main" id="{6B9CBE4E-88DA-93C5-1293-8203F0706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079" y="571499"/>
            <a:ext cx="5646921" cy="505575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7250" y="5087620"/>
            <a:ext cx="5000625" cy="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50" b="1" i="0" u="none">
                <a:solidFill>
                  <a:srgbClr val="475569"/>
                </a:solidFill>
                <a:latin typeface="Lato"/>
              </a:rPr>
              <a:t>"Equivalency Trust" Cards:</a:t>
            </a:r>
            <a:r>
              <a:rPr sz="1150" b="0" i="0" u="none">
                <a:solidFill>
                  <a:srgbClr val="475569"/>
                </a:solidFill>
                <a:latin typeface="Lato"/>
              </a:rPr>
              <a:t> Displays salt-bound side-effect profiles to visually prove the generic has the exact same safety profile as the expensive brand.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5835650"/>
            <a:ext cx="5000625" cy="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50" b="1" i="0" u="none">
                <a:solidFill>
                  <a:srgbClr val="475569"/>
                </a:solidFill>
                <a:latin typeface="Lato"/>
              </a:rPr>
              <a:t>Consumer Safety Alerts:</a:t>
            </a:r>
            <a:r>
              <a:rPr sz="1150" b="0" i="0" u="none">
                <a:solidFill>
                  <a:srgbClr val="475569"/>
                </a:solidFill>
                <a:latin typeface="Lato"/>
              </a:rPr>
              <a:t> Real-time UI badges for Drug-Drug Contraindications, CDSCO Batch Blacklist warnings, and Price Anomaly discount-dumping flags.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87620"/>
            <a:ext cx="95250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35650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40309"/>
            <a:ext cx="116014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6000" b="1" i="0" u="none" dirty="0">
                <a:solidFill>
                  <a:srgbClr val="1E3A8A"/>
                </a:solidFill>
                <a:latin typeface="Poppins"/>
              </a:rPr>
              <a:t>Thank You!</a:t>
            </a:r>
            <a:r>
              <a:rPr sz="6000" b="1" i="0" u="none" dirty="0">
                <a:solidFill>
                  <a:srgbClr val="1E3A8A"/>
                </a:solidFill>
                <a:latin typeface="Poppins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1002</Words>
  <Application>Microsoft Office PowerPoint</Application>
  <PresentationFormat>Widescreen</PresentationFormat>
  <Paragraphs>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kaizo sisi</cp:lastModifiedBy>
  <cp:revision>5</cp:revision>
  <dcterms:created xsi:type="dcterms:W3CDTF">2013-01-27T09:14:16Z</dcterms:created>
  <dcterms:modified xsi:type="dcterms:W3CDTF">2026-07-31T07:00:05Z</dcterms:modified>
  <cp:category/>
</cp:coreProperties>
</file>